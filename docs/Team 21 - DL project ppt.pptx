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0DEEF"/>
          </a:solidFill>
        </a:fill>
      </a:tcStyle>
    </a:wholeTbl>
    <a:band2H>
      <a:tcTxStyle b="def" i="def"/>
      <a:tcStyle>
        <a:tcBdr/>
        <a:fill>
          <a:solidFill>
            <a:srgbClr val="E9EFF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524000" y="3602037"/>
            <a:ext cx="9144000" cy="1655764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0" algn="ctr">
              <a:buSzTx/>
              <a:buFontTx/>
              <a:buNone/>
              <a:defRPr sz="2400"/>
            </a:lvl2pPr>
            <a:lvl3pPr marL="0" indent="0" algn="ctr">
              <a:buSzTx/>
              <a:buFontTx/>
              <a:buNone/>
              <a:defRPr sz="2400"/>
            </a:lvl3pPr>
            <a:lvl4pPr marL="0" indent="0" algn="ctr">
              <a:buSzTx/>
              <a:buFontTx/>
              <a:buNone/>
              <a:defRPr sz="2400"/>
            </a:lvl4pPr>
            <a:lvl5pPr marL="0" indent="0" algn="ctr">
              <a:buSzTx/>
              <a:buFontTx/>
              <a:buNone/>
              <a:defRPr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831850" y="4589462"/>
            <a:ext cx="10515600" cy="1500189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839787" y="1681163"/>
            <a:ext cx="5157790" cy="823914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b="1" sz="2400"/>
            </a:lvl1pPr>
            <a:lvl2pPr marL="0" indent="0">
              <a:buSzTx/>
              <a:buFontTx/>
              <a:buNone/>
              <a:defRPr b="1" sz="2400"/>
            </a:lvl2pPr>
            <a:lvl3pPr marL="0" indent="0">
              <a:buSzTx/>
              <a:buFontTx/>
              <a:buNone/>
              <a:defRPr b="1" sz="2400"/>
            </a:lvl3pPr>
            <a:lvl4pPr marL="0" indent="0">
              <a:buSzTx/>
              <a:buFontTx/>
              <a:buNone/>
              <a:defRPr b="1" sz="2400"/>
            </a:lvl4pPr>
            <a:lvl5pPr marL="0" indent="0"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6172200" y="1681163"/>
            <a:ext cx="5183188" cy="823914"/>
          </a:xfrm>
          <a:prstGeom prst="rect">
            <a:avLst/>
          </a:prstGeom>
        </p:spPr>
        <p:txBody>
          <a:bodyPr anchor="b"/>
          <a:lstStyle/>
          <a:p>
            <a:pPr/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839787" y="457200"/>
            <a:ext cx="393224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5183187" y="987425"/>
            <a:ext cx="6172202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839787" y="457200"/>
            <a:ext cx="393224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5183187" y="987425"/>
            <a:ext cx="6172202" cy="487362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839787" y="2057400"/>
            <a:ext cx="3932240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0">
              <a:buSzTx/>
              <a:buFontTx/>
              <a:buNone/>
              <a:defRPr sz="1600"/>
            </a:lvl2pPr>
            <a:lvl3pPr marL="0" indent="0">
              <a:buSzTx/>
              <a:buFontTx/>
              <a:buNone/>
              <a:defRPr sz="1600"/>
            </a:lvl3pPr>
            <a:lvl4pPr marL="0" indent="0">
              <a:buSzTx/>
              <a:buFontTx/>
              <a:buNone/>
              <a:defRPr sz="1600"/>
            </a:lvl4pPr>
            <a:lvl5pPr marL="0" indent="0">
              <a:buSzTx/>
              <a:buFontTx/>
              <a:buNone/>
              <a:defRPr sz="1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095178" y="6414761"/>
            <a:ext cx="258623" cy="248303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34438" marR="0" indent="-320038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github.com/jinlHe/PeFoMed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itle 1"/>
          <p:cNvSpPr txBox="1"/>
          <p:nvPr>
            <p:ph type="title"/>
          </p:nvPr>
        </p:nvSpPr>
        <p:spPr>
          <a:xfrm>
            <a:off x="838200" y="608403"/>
            <a:ext cx="10515600" cy="1325564"/>
          </a:xfrm>
          <a:prstGeom prst="rect">
            <a:avLst/>
          </a:prstGeom>
        </p:spPr>
        <p:txBody>
          <a:bodyPr/>
          <a:lstStyle>
            <a:lvl1pPr algn="ctr" defTabSz="804672">
              <a:defRPr b="1" sz="2816">
                <a:latin typeface="Sans Serif Collection"/>
                <a:ea typeface="Sans Serif Collection"/>
                <a:cs typeface="Sans Serif Collection"/>
                <a:sym typeface="Sans Serif Collection"/>
              </a:defRPr>
            </a:lvl1pPr>
          </a:lstStyle>
          <a:p>
            <a:pPr/>
            <a:r>
              <a:t>PeFoMed-Light: A Lightweight and Parameter-Efficient Vision–Language Architecture for Automated Medical Report Generation</a:t>
            </a:r>
          </a:p>
        </p:txBody>
      </p:sp>
      <p:sp>
        <p:nvSpPr>
          <p:cNvPr id="95" name="Content Placeholder 2"/>
          <p:cNvSpPr txBox="1"/>
          <p:nvPr>
            <p:ph type="body" idx="1"/>
          </p:nvPr>
        </p:nvSpPr>
        <p:spPr>
          <a:xfrm>
            <a:off x="838200" y="2273493"/>
            <a:ext cx="10515600" cy="4351339"/>
          </a:xfrm>
          <a:prstGeom prst="rect">
            <a:avLst/>
          </a:prstGeom>
        </p:spPr>
        <p:txBody>
          <a:bodyPr/>
          <a:lstStyle/>
          <a:p>
            <a:pPr marL="0" indent="0" algn="ctr">
              <a:buSzTx/>
              <a:buNone/>
              <a:defRPr sz="2000">
                <a:solidFill>
                  <a:srgbClr val="2E75B6"/>
                </a:solidFill>
              </a:defRPr>
            </a:pPr>
            <a:r>
              <a:t>Medical Report Generation using PeFoMed with LLM-based Text Reports from CheXpert Dataset</a:t>
            </a:r>
            <a:endParaRPr b="1"/>
          </a:p>
          <a:p>
            <a:pPr marL="0" indent="0" algn="ctr">
              <a:buSzTx/>
              <a:buNone/>
              <a:defRPr b="1" sz="2000"/>
            </a:pPr>
            <a:r>
              <a:t>Presenters</a:t>
            </a:r>
            <a:r>
              <a:rPr b="0"/>
              <a:t>:</a:t>
            </a:r>
            <a:endParaRPr>
              <a:solidFill>
                <a:srgbClr val="2E75B6"/>
              </a:solidFill>
            </a:endParaRPr>
          </a:p>
          <a:p>
            <a:pPr marL="0" indent="0" algn="ctr">
              <a:buSzTx/>
              <a:buNone/>
              <a:defRPr sz="2000"/>
            </a:pPr>
            <a:r>
              <a:t>Ch. Himesh Raj Kumar (CS23BT005)</a:t>
            </a:r>
          </a:p>
          <a:p>
            <a:pPr marL="0" indent="0" algn="ctr">
              <a:buSzTx/>
              <a:buNone/>
              <a:defRPr sz="2000"/>
            </a:pPr>
            <a:r>
              <a:t>K. Varaprasad Reddy (CS23BT050)</a:t>
            </a:r>
          </a:p>
          <a:p>
            <a:pPr marL="0" indent="0" algn="ctr">
              <a:buSzTx/>
              <a:buNone/>
              <a:defRPr sz="2000"/>
            </a:pPr>
            <a:r>
              <a:t>Pasham Pardeev Narsi Reddy(CS22BT040)</a:t>
            </a:r>
          </a:p>
          <a:p>
            <a:pPr marL="0" indent="0" algn="ctr">
              <a:buSzTx/>
              <a:buNone/>
              <a:defRPr sz="2000"/>
            </a:pPr>
          </a:p>
          <a:p>
            <a:pPr marL="0" indent="0" algn="ctr">
              <a:buSzTx/>
              <a:buNone/>
              <a:defRPr sz="2000"/>
            </a:pPr>
            <a:r>
              <a:t>A research project on improving automated medical report generation using parameter-efficient fine-tuning and large-scale, region-based datasets.</a:t>
            </a:r>
          </a:p>
        </p:txBody>
      </p:sp>
      <p:pic>
        <p:nvPicPr>
          <p:cNvPr id="96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549830" y="5587177"/>
            <a:ext cx="5092338" cy="66242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CONTENTS</a:t>
            </a:r>
          </a:p>
        </p:txBody>
      </p:sp>
      <p:sp>
        <p:nvSpPr>
          <p:cNvPr id="99" name="Content Placeholder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Abstract</a:t>
            </a:r>
          </a:p>
          <a:p>
            <a:pPr/>
            <a:r>
              <a:t>Introduction</a:t>
            </a:r>
          </a:p>
          <a:p>
            <a:pPr/>
            <a:r>
              <a:t>Methodology</a:t>
            </a:r>
          </a:p>
          <a:p>
            <a:pPr/>
            <a:r>
              <a:t>Experiments and Results</a:t>
            </a:r>
          </a:p>
          <a:p>
            <a:pPr/>
            <a:r>
              <a:t>Evaluation Metrics</a:t>
            </a:r>
          </a:p>
          <a:p>
            <a:pPr/>
            <a:r>
              <a:t>Conclusion and Future work</a:t>
            </a:r>
          </a:p>
          <a:p>
            <a:pPr/>
            <a:r>
              <a:t>References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Box 1"/>
          <p:cNvSpPr txBox="1"/>
          <p:nvPr/>
        </p:nvSpPr>
        <p:spPr>
          <a:xfrm>
            <a:off x="634804" y="422031"/>
            <a:ext cx="10872569" cy="4447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800"/>
            </a:lvl1pPr>
          </a:lstStyle>
          <a:p>
            <a:pPr/>
            <a:r>
              <a:t>Abstract</a:t>
            </a:r>
          </a:p>
        </p:txBody>
      </p:sp>
      <p:sp>
        <p:nvSpPr>
          <p:cNvPr id="102" name="TextBox 2"/>
          <p:cNvSpPr txBox="1"/>
          <p:nvPr/>
        </p:nvSpPr>
        <p:spPr>
          <a:xfrm>
            <a:off x="485334" y="1611228"/>
            <a:ext cx="11022039" cy="32540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285750" indent="-285750">
              <a:buSzPct val="100000"/>
              <a:buFont typeface="Arial"/>
              <a:buChar char="•"/>
            </a:pPr>
            <a:r>
              <a:t>The project focuses on automating medical report generation from chest X-ray images using the PeFoMed model.</a:t>
            </a:r>
          </a:p>
          <a:p>
            <a:pPr marL="285750" indent="-285750">
              <a:buSzPct val="100000"/>
              <a:buFont typeface="Arial"/>
              <a:buChar char="•"/>
            </a:pPr>
          </a:p>
          <a:p>
            <a:pPr marL="285750" indent="-285750">
              <a:buSzPct val="100000"/>
              <a:buFont typeface="Arial"/>
              <a:buChar char="•"/>
            </a:pPr>
            <a:r>
              <a:t>PeFoMed was fine-tuned on a custom dataset derived from CheXpert.</a:t>
            </a:r>
          </a:p>
          <a:p>
            <a:pPr marL="285750" indent="-285750">
              <a:buSzPct val="100000"/>
              <a:buFont typeface="Arial"/>
              <a:buChar char="•"/>
            </a:pPr>
          </a:p>
          <a:p>
            <a:pPr marL="285750" indent="-285750">
              <a:buSzPct val="100000"/>
              <a:buFont typeface="Arial"/>
              <a:buChar char="•"/>
            </a:pPr>
            <a:r>
              <a:t>Llama was used to generate text reports corresponding to the 14 diagnostic labels in the dataset.</a:t>
            </a:r>
          </a:p>
          <a:p>
            <a:pPr marL="285750" indent="-285750">
              <a:buSzPct val="100000"/>
              <a:buFont typeface="Arial"/>
              <a:buChar char="•"/>
            </a:pPr>
          </a:p>
          <a:p>
            <a:pPr marL="285750" indent="-285750">
              <a:buSzPct val="100000"/>
              <a:buFont typeface="Arial"/>
              <a:buChar char="•"/>
            </a:pPr>
            <a:r>
              <a:t>The model was trained with:</a:t>
            </a:r>
          </a:p>
          <a:p>
            <a:pPr lvl="1" marL="742950" indent="-285750">
              <a:buSzPct val="100000"/>
              <a:buFont typeface="Arial"/>
              <a:buChar char="•"/>
            </a:pPr>
            <a:r>
              <a:t>Chest X-ray images as input, and</a:t>
            </a:r>
          </a:p>
          <a:p>
            <a:pPr lvl="1" marL="742950" indent="-285750">
              <a:buSzPct val="100000"/>
              <a:buFont typeface="Arial"/>
              <a:buChar char="•"/>
            </a:pPr>
            <a:r>
              <a:t>LLM-generated text reports as output.</a:t>
            </a:r>
          </a:p>
          <a:p>
            <a:pPr marL="285750" indent="-285750">
              <a:buSzPct val="100000"/>
              <a:buFont typeface="Arial"/>
              <a:buChar char="•"/>
            </a:pPr>
          </a:p>
          <a:p>
            <a:pPr marL="285750" indent="-285750">
              <a:buSzPct val="100000"/>
              <a:buFont typeface="Arial"/>
              <a:buChar char="•"/>
            </a:pPr>
            <a:r>
              <a:t>The main goal was to evaluate PeFoMed’s ability to generate accurate medical reports from image inputs.</a:t>
            </a:r>
          </a:p>
        </p:txBody>
      </p:sp>
      <p:sp>
        <p:nvSpPr>
          <p:cNvPr id="103" name="Minus 3"/>
          <p:cNvSpPr/>
          <p:nvPr/>
        </p:nvSpPr>
        <p:spPr>
          <a:xfrm>
            <a:off x="535697" y="487189"/>
            <a:ext cx="45232" cy="428069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Box 1"/>
          <p:cNvSpPr txBox="1"/>
          <p:nvPr/>
        </p:nvSpPr>
        <p:spPr>
          <a:xfrm>
            <a:off x="582050" y="439615"/>
            <a:ext cx="10925323" cy="4447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800"/>
            </a:lvl1pPr>
          </a:lstStyle>
          <a:p>
            <a:pPr/>
            <a:r>
              <a:t>Introduction</a:t>
            </a:r>
          </a:p>
        </p:txBody>
      </p:sp>
      <p:sp>
        <p:nvSpPr>
          <p:cNvPr id="106" name="TextBox 2"/>
          <p:cNvSpPr txBox="1"/>
          <p:nvPr/>
        </p:nvSpPr>
        <p:spPr>
          <a:xfrm>
            <a:off x="634804" y="1371600"/>
            <a:ext cx="11022039" cy="5590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285750" indent="-285750">
              <a:buSzPct val="100000"/>
              <a:buFont typeface="Arial"/>
              <a:buChar char="•"/>
              <a:defRPr b="1"/>
            </a:pPr>
            <a:r>
              <a:t>PeFoMed</a:t>
            </a:r>
            <a:r>
              <a:rPr b="0"/>
              <a:t> is a </a:t>
            </a:r>
            <a:r>
              <a:t>transformer-based multimodal model</a:t>
            </a:r>
            <a:r>
              <a:rPr b="0"/>
              <a:t> designed for </a:t>
            </a:r>
            <a:r>
              <a:t>medical report generation</a:t>
            </a:r>
            <a:r>
              <a:rPr b="0"/>
              <a:t>.</a:t>
            </a:r>
          </a:p>
          <a:p>
            <a:pPr marL="285750" indent="-285750">
              <a:buSzPct val="100000"/>
              <a:buFont typeface="Arial"/>
              <a:buChar char="•"/>
            </a:pPr>
            <a:endParaRPr b="1"/>
          </a:p>
          <a:p>
            <a:pPr marL="285750" indent="-285750">
              <a:buSzPct val="100000"/>
              <a:buFont typeface="Arial"/>
              <a:buChar char="•"/>
            </a:pPr>
            <a:r>
              <a:t>Traditional medical report generation models are </a:t>
            </a:r>
            <a:r>
              <a:rPr b="1"/>
              <a:t>limited by high data annotation costs</a:t>
            </a:r>
            <a:r>
              <a:t>.</a:t>
            </a:r>
          </a:p>
          <a:p>
            <a:pPr marL="285750" indent="-285750">
              <a:buSzPct val="100000"/>
              <a:buFont typeface="Arial"/>
              <a:buChar char="•"/>
            </a:pPr>
          </a:p>
          <a:p>
            <a:pPr marL="285750" indent="-285750">
              <a:buSzPct val="100000"/>
              <a:buFont typeface="Arial"/>
              <a:buChar char="•"/>
            </a:pPr>
            <a:r>
              <a:t>To overcome this, </a:t>
            </a:r>
            <a:r>
              <a:rPr b="1"/>
              <a:t>LLM-generated synthetic text reports</a:t>
            </a:r>
            <a:r>
              <a:t> aligned with </a:t>
            </a:r>
            <a:r>
              <a:rPr b="1"/>
              <a:t>CheXpert labels</a:t>
            </a:r>
            <a:r>
              <a:t> are used to </a:t>
            </a:r>
            <a:r>
              <a:rPr b="1"/>
              <a:t>create a scalable training dataset</a:t>
            </a:r>
            <a:r>
              <a:t> for PeFoMed.</a:t>
            </a:r>
          </a:p>
          <a:p>
            <a:pPr marL="285750" indent="-285750">
              <a:buSzPct val="100000"/>
              <a:buFont typeface="Arial"/>
              <a:buChar char="•"/>
            </a:pPr>
          </a:p>
          <a:p>
            <a:pPr marL="285750" indent="-285750">
              <a:buSzPct val="100000"/>
              <a:buFont typeface="Arial"/>
              <a:buChar char="•"/>
            </a:pPr>
            <a:r>
              <a:t>The project aims to:</a:t>
            </a:r>
          </a:p>
          <a:p>
            <a:pPr/>
          </a:p>
          <a:p>
            <a:pPr lvl="1" marL="742950" indent="-285750">
              <a:buSzPct val="100000"/>
              <a:buFont typeface="Arial"/>
              <a:buChar char="•"/>
              <a:defRPr b="1"/>
            </a:pPr>
            <a:r>
              <a:t>Verify</a:t>
            </a:r>
            <a:r>
              <a:rPr b="0"/>
              <a:t> whether LLM-generated medical text </a:t>
            </a:r>
            <a:r>
              <a:t>accurately aligns with ground truth reports</a:t>
            </a:r>
            <a:r>
              <a:rPr b="0"/>
              <a:t>.</a:t>
            </a:r>
          </a:p>
          <a:p>
            <a:pPr lvl="1" marL="742950" indent="-285750">
              <a:buSzPct val="100000"/>
              <a:buFont typeface="Arial"/>
              <a:buChar char="•"/>
              <a:defRPr b="1"/>
            </a:pPr>
            <a:r>
              <a:t>Evaluate</a:t>
            </a:r>
            <a:r>
              <a:rPr b="0"/>
              <a:t> model performance using </a:t>
            </a:r>
            <a:r>
              <a:t>standard NLP metrics</a:t>
            </a:r>
            <a:r>
              <a:rPr b="0"/>
              <a:t>.</a:t>
            </a:r>
          </a:p>
          <a:p>
            <a:pPr/>
            <a:endParaRPr b="1"/>
          </a:p>
          <a:p>
            <a:pPr/>
            <a:endParaRPr b="1"/>
          </a:p>
          <a:p>
            <a:pPr/>
            <a:endParaRPr b="1"/>
          </a:p>
          <a:p>
            <a:pPr/>
            <a:br>
              <a:rPr b="1"/>
            </a:br>
            <a:endParaRPr b="1"/>
          </a:p>
          <a:p>
            <a:pPr/>
            <a:endParaRPr b="1"/>
          </a:p>
          <a:p>
            <a:pPr/>
            <a:endParaRPr b="1"/>
          </a:p>
        </p:txBody>
      </p:sp>
      <p:sp>
        <p:nvSpPr>
          <p:cNvPr id="107" name="Minus 5"/>
          <p:cNvSpPr/>
          <p:nvPr/>
        </p:nvSpPr>
        <p:spPr>
          <a:xfrm>
            <a:off x="535697" y="487189"/>
            <a:ext cx="45232" cy="428069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Box 1"/>
          <p:cNvSpPr txBox="1"/>
          <p:nvPr/>
        </p:nvSpPr>
        <p:spPr>
          <a:xfrm>
            <a:off x="582050" y="439615"/>
            <a:ext cx="10925323" cy="4447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800"/>
            </a:lvl1pPr>
          </a:lstStyle>
          <a:p>
            <a:pPr/>
            <a:r>
              <a:t>What is PeFoMed? and Why PeFoMed?</a:t>
            </a:r>
          </a:p>
        </p:txBody>
      </p:sp>
      <p:sp>
        <p:nvSpPr>
          <p:cNvPr id="110" name="TextBox 2"/>
          <p:cNvSpPr txBox="1"/>
          <p:nvPr/>
        </p:nvSpPr>
        <p:spPr>
          <a:xfrm>
            <a:off x="634804" y="1371600"/>
            <a:ext cx="11022039" cy="47145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285750" indent="-285750">
              <a:buSzPct val="100000"/>
              <a:buFont typeface="Arial"/>
              <a:buChar char="•"/>
            </a:pPr>
            <a:r>
              <a:t>PeFoMed is a transformer-based multimodal generative model designed for medical imaging tasks like Visual Question Answering (VQA) and Medical Report Generation (MRG).</a:t>
            </a:r>
            <a:br/>
            <a:r>
              <a:t>It follows a parameter-efficient fine-tuning (PEFT) strategy so that only a small part of the model is trained, while the rest stays frozen.</a:t>
            </a:r>
          </a:p>
          <a:p>
            <a:pPr marL="285750" indent="-285750">
              <a:buSzPct val="100000"/>
              <a:buFont typeface="Arial"/>
              <a:buChar char="•"/>
              <a:defRPr b="1"/>
            </a:pPr>
          </a:p>
          <a:p>
            <a:pPr marL="285750" indent="-285750">
              <a:buSzPct val="100000"/>
              <a:buFont typeface="Arial"/>
              <a:buChar char="•"/>
              <a:defRPr b="1"/>
            </a:pPr>
            <a:r>
              <a:t>Architecture Overview-</a:t>
            </a:r>
          </a:p>
          <a:p>
            <a:pPr marL="285750" indent="-285750">
              <a:buSzPct val="100000"/>
              <a:buFont typeface="Arial"/>
              <a:buChar char="•"/>
              <a:defRPr b="1"/>
            </a:pPr>
            <a:r>
              <a:t>Vision Encoder:</a:t>
            </a:r>
            <a:r>
              <a:rPr b="0"/>
              <a:t> A pre-trained ViT (EVA) model extracts features from X-ray images (kept </a:t>
            </a:r>
            <a:r>
              <a:rPr b="0" i="1"/>
              <a:t>frozen</a:t>
            </a:r>
            <a:r>
              <a:rPr b="0"/>
              <a:t>).</a:t>
            </a:r>
            <a:endParaRPr b="0"/>
          </a:p>
          <a:p>
            <a:pPr marL="285750" indent="-285750">
              <a:buSzPct val="100000"/>
              <a:buFont typeface="Arial"/>
              <a:buChar char="•"/>
              <a:defRPr b="1"/>
            </a:pPr>
            <a:r>
              <a:t>Projection Layer:</a:t>
            </a:r>
            <a:r>
              <a:rPr b="0"/>
              <a:t> Maps visual features into the LLM embedding space.</a:t>
            </a:r>
            <a:endParaRPr b="0"/>
          </a:p>
          <a:p>
            <a:pPr marL="285750" indent="-285750">
              <a:buSzPct val="100000"/>
              <a:buFont typeface="Arial"/>
              <a:buChar char="•"/>
              <a:defRPr b="1"/>
            </a:pPr>
            <a:r>
              <a:t>LLM Backbone:</a:t>
            </a:r>
            <a:r>
              <a:rPr b="0"/>
              <a:t> A frozen LLaMA-2-Chat model, acting as a text generator.</a:t>
            </a:r>
            <a:endParaRPr b="0"/>
          </a:p>
          <a:p>
            <a:pPr marL="285750" indent="-285750">
              <a:buSzPct val="100000"/>
              <a:buFont typeface="Arial"/>
              <a:buChar char="•"/>
              <a:defRPr b="1"/>
            </a:pPr>
            <a:r>
              <a:t>LoRA Layers:</a:t>
            </a:r>
            <a:r>
              <a:rPr b="0"/>
              <a:t> Lightweight trainable adapters inserted into the LLM to enable efficient fine-tuning.</a:t>
            </a:r>
            <a:endParaRPr b="0"/>
          </a:p>
          <a:p>
            <a:pPr/>
          </a:p>
          <a:p>
            <a:pPr marL="285750" indent="-285750">
              <a:buSzPct val="100000"/>
              <a:buFont typeface="Arial"/>
              <a:buChar char="•"/>
              <a:defRPr b="1"/>
            </a:pPr>
            <a:r>
              <a:t>Why PeFoMed?</a:t>
            </a:r>
          </a:p>
          <a:p>
            <a:pPr marL="285750" indent="-285750">
              <a:buSzPct val="100000"/>
              <a:buFont typeface="Arial"/>
              <a:buChar char="•"/>
            </a:pPr>
            <a:r>
              <a:t>Requires very little training compute</a:t>
            </a:r>
          </a:p>
          <a:p>
            <a:pPr marL="285750" indent="-285750">
              <a:buSzPct val="100000"/>
              <a:buFont typeface="Arial"/>
              <a:buChar char="•"/>
            </a:pPr>
            <a:r>
              <a:t>Maintains strong generative capability</a:t>
            </a:r>
          </a:p>
          <a:p>
            <a:pPr marL="285750" indent="-285750">
              <a:buSzPct val="100000"/>
              <a:buFont typeface="Arial"/>
              <a:buChar char="•"/>
            </a:pPr>
            <a:r>
              <a:t>Works well even with limited medical datasets</a:t>
            </a:r>
          </a:p>
          <a:p>
            <a:pPr marL="285750" indent="-285750">
              <a:buSzPct val="100000"/>
              <a:buFont typeface="Arial"/>
              <a:buChar char="•"/>
            </a:pPr>
            <a:r>
              <a:t>Proven effective on VQA-RAD, SLAKE, PathVQA, IU-Xray</a:t>
            </a:r>
          </a:p>
        </p:txBody>
      </p:sp>
      <p:sp>
        <p:nvSpPr>
          <p:cNvPr id="111" name="Minus 5"/>
          <p:cNvSpPr/>
          <p:nvPr/>
        </p:nvSpPr>
        <p:spPr>
          <a:xfrm>
            <a:off x="535697" y="487189"/>
            <a:ext cx="45232" cy="428069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extBox 1"/>
          <p:cNvSpPr txBox="1"/>
          <p:nvPr/>
        </p:nvSpPr>
        <p:spPr>
          <a:xfrm>
            <a:off x="582050" y="439615"/>
            <a:ext cx="10925323" cy="4447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800"/>
            </a:lvl1pPr>
          </a:lstStyle>
          <a:p>
            <a:pPr/>
            <a:r>
              <a:t>Text Generation Pipeline</a:t>
            </a:r>
          </a:p>
        </p:txBody>
      </p:sp>
      <p:sp>
        <p:nvSpPr>
          <p:cNvPr id="114" name="TextBox 2"/>
          <p:cNvSpPr txBox="1"/>
          <p:nvPr/>
        </p:nvSpPr>
        <p:spPr>
          <a:xfrm>
            <a:off x="634804" y="1371600"/>
            <a:ext cx="11022039" cy="4130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285750" indent="-285750">
              <a:buSzPct val="100000"/>
              <a:buFont typeface="Arial"/>
              <a:buChar char="•"/>
            </a:pPr>
            <a:r>
              <a:t>We generate Findings section from CheXpert labels using LangChain + LLaMA-</a:t>
            </a:r>
            <a:r>
              <a:t>7b</a:t>
            </a:r>
            <a:r>
              <a:t> with few-shot prompting</a:t>
            </a:r>
          </a:p>
          <a:p>
            <a:pPr marL="285750" indent="-285750">
              <a:buSzPct val="100000"/>
              <a:buFont typeface="Arial"/>
              <a:buChar char="•"/>
              <a:defRPr b="1"/>
            </a:pPr>
          </a:p>
          <a:p>
            <a:pPr marL="285750" indent="-285750">
              <a:buSzPct val="100000"/>
              <a:buFont typeface="Arial"/>
              <a:buChar char="•"/>
              <a:defRPr b="1"/>
            </a:pPr>
            <a:r>
              <a:t>Input:</a:t>
            </a:r>
            <a:r>
              <a:rPr b="0"/>
              <a:t> CheXpert label vector (14 labels)</a:t>
            </a:r>
            <a:endParaRPr b="0"/>
          </a:p>
          <a:p>
            <a:pPr marL="285750" indent="-285750">
              <a:buSzPct val="100000"/>
              <a:buFont typeface="Arial"/>
              <a:buChar char="•"/>
              <a:defRPr b="1"/>
            </a:pPr>
            <a:r>
              <a:t>Output:</a:t>
            </a:r>
            <a:r>
              <a:rPr b="0"/>
              <a:t> Radiology-style Findings text.</a:t>
            </a:r>
            <a:endParaRPr b="0"/>
          </a:p>
          <a:p>
            <a:pPr/>
          </a:p>
          <a:p>
            <a:pPr marL="285750" indent="-285750">
              <a:buSzPct val="100000"/>
              <a:buFont typeface="Arial"/>
              <a:buChar char="•"/>
              <a:defRPr b="1"/>
            </a:pPr>
            <a:r>
              <a:t>Pipeline Flow:</a:t>
            </a:r>
          </a:p>
          <a:p>
            <a:pPr/>
            <a:r>
              <a:t>1.Load CheXpert labels</a:t>
            </a:r>
          </a:p>
          <a:p>
            <a:pPr/>
            <a:r>
              <a:t>2.Convert them into a natural language prompt</a:t>
            </a:r>
          </a:p>
          <a:p>
            <a:pPr/>
            <a:r>
              <a:t>3.LLaMA-</a:t>
            </a:r>
            <a:r>
              <a:t>7b</a:t>
            </a:r>
            <a:r>
              <a:t> generates the Findings section</a:t>
            </a:r>
          </a:p>
          <a:p>
            <a:pPr/>
            <a:r>
              <a:t>4.Output checked manually + validated using CheXber</a:t>
            </a:r>
            <a:r>
              <a:t>t</a:t>
            </a:r>
          </a:p>
          <a:p>
            <a:pPr marL="285750" indent="-285750">
              <a:buSzPct val="100000"/>
              <a:buFont typeface="Arial"/>
              <a:buChar char="•"/>
              <a:defRPr b="1"/>
            </a:pPr>
            <a:r>
              <a:t>Advantages:</a:t>
            </a:r>
          </a:p>
          <a:p>
            <a:pPr/>
            <a:r>
              <a:t>-Zero hallucination observed in manual check</a:t>
            </a:r>
          </a:p>
          <a:p>
            <a:pPr/>
            <a:r>
              <a:t>-Radiologist-like tone preserved</a:t>
            </a:r>
          </a:p>
          <a:p>
            <a:pPr/>
            <a:r>
              <a:t>-Works consistently across normal and abnormal cases</a:t>
            </a:r>
          </a:p>
        </p:txBody>
      </p:sp>
      <p:sp>
        <p:nvSpPr>
          <p:cNvPr id="115" name="Minus 5"/>
          <p:cNvSpPr/>
          <p:nvPr/>
        </p:nvSpPr>
        <p:spPr>
          <a:xfrm>
            <a:off x="535697" y="487189"/>
            <a:ext cx="45232" cy="428069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extBox 1"/>
          <p:cNvSpPr txBox="1"/>
          <p:nvPr/>
        </p:nvSpPr>
        <p:spPr>
          <a:xfrm>
            <a:off x="149184" y="195931"/>
            <a:ext cx="11236657" cy="4899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3000"/>
            </a:lvl1pPr>
          </a:lstStyle>
          <a:p>
            <a:pPr/>
            <a:r>
              <a:t>Why We Modified the Original PeFoMed Architecture</a:t>
            </a:r>
          </a:p>
        </p:txBody>
      </p:sp>
      <p:sp>
        <p:nvSpPr>
          <p:cNvPr id="118" name="TextBox 2"/>
          <p:cNvSpPr txBox="1"/>
          <p:nvPr/>
        </p:nvSpPr>
        <p:spPr>
          <a:xfrm>
            <a:off x="422018" y="749927"/>
            <a:ext cx="11498240" cy="6137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2400"/>
            </a:pPr>
            <a:r>
              <a:t>Problem in Original PeFoMed:</a:t>
            </a:r>
          </a:p>
          <a:p>
            <a:pPr/>
          </a:p>
          <a:p>
            <a:pPr marL="285750" indent="-285750">
              <a:buSzPct val="100000"/>
              <a:buFont typeface="Arial"/>
              <a:buChar char="•"/>
            </a:pPr>
            <a:r>
              <a:t>The PeFoMed paper uses EVA-ViT-g Vision Encoder (a very large ViT model),its not publicly available and requires huge GPU resources.</a:t>
            </a:r>
          </a:p>
          <a:p>
            <a:pPr marL="285750" indent="-285750">
              <a:buSzPct val="100000"/>
              <a:buFont typeface="Arial"/>
              <a:buChar char="•"/>
            </a:pPr>
          </a:p>
          <a:p>
            <a:pPr marL="285750" indent="-285750">
              <a:buSzPct val="100000"/>
              <a:buFont typeface="Arial"/>
              <a:buChar char="•"/>
            </a:pPr>
            <a:r>
              <a:t>EVA produces visual embeddings that are already aligned to 5632 dimensions, which match LLaMA hidden    size requirements.</a:t>
            </a:r>
          </a:p>
          <a:p>
            <a:pPr marL="285750" indent="-285750">
              <a:buSzPct val="100000"/>
              <a:buFont typeface="Arial"/>
              <a:buChar char="•"/>
            </a:pPr>
          </a:p>
          <a:p>
            <a:pPr>
              <a:buSzPct val="100000"/>
              <a:buChar char="•"/>
              <a:defRPr>
                <a:latin typeface="Arial"/>
                <a:ea typeface="Arial"/>
                <a:cs typeface="Arial"/>
                <a:sym typeface="Arial"/>
              </a:defRPr>
            </a:pPr>
            <a:r>
              <a:t>  </a:t>
            </a:r>
            <a:r>
              <a:rPr>
                <a:latin typeface="+mn-lt"/>
                <a:ea typeface="+mn-ea"/>
                <a:cs typeface="+mn-cs"/>
                <a:sym typeface="Calibri"/>
              </a:rPr>
              <a:t>The original PeFoMed uses a large frozen LLaMA-Chat model for text decoding,very high VRAM (&gt;40GB).</a:t>
            </a:r>
            <a:endParaRPr>
              <a:latin typeface="+mn-lt"/>
              <a:ea typeface="+mn-ea"/>
              <a:cs typeface="+mn-cs"/>
              <a:sym typeface="Calibri"/>
            </a:endParaRPr>
          </a:p>
          <a:p>
            <a:pPr>
              <a:buSzPct val="100000"/>
              <a:buChar char="•"/>
            </a:pPr>
          </a:p>
          <a:p>
            <a:pPr>
              <a:defRPr sz="2400"/>
            </a:pPr>
            <a:r>
              <a:t>Resolvment of Issue in Our Implementation:</a:t>
            </a:r>
          </a:p>
          <a:p>
            <a:pPr>
              <a:defRPr sz="2400"/>
            </a:pPr>
          </a:p>
          <a:p>
            <a:pPr marL="285750" indent="-285750">
              <a:buSzPct val="100000"/>
              <a:buFont typeface="Arial"/>
              <a:buChar char="•"/>
            </a:pPr>
            <a:r>
              <a:t>EVA-ViT is not open-source, so we replaced it with: CLIP ViT-L/14 Vision Encoder (OpenAI)</a:t>
            </a:r>
          </a:p>
          <a:p>
            <a:pPr marL="285750" indent="-285750">
              <a:buSzPct val="100000"/>
              <a:buFont typeface="Arial"/>
              <a:buChar char="•"/>
            </a:pPr>
          </a:p>
          <a:p>
            <a:pPr marL="285750" indent="-285750">
              <a:buSzPct val="100000"/>
              <a:buFont typeface="Arial"/>
              <a:buChar char="•"/>
            </a:pPr>
            <a:r>
              <a:t>But CLIP produces: token embedding size = 1024, We take 4 tokens : 4 × 1024 = 4096 dimensions(5632 for EVA-ViT)</a:t>
            </a:r>
          </a:p>
          <a:p>
            <a:pPr marL="285750" indent="-285750">
              <a:buSzPct val="100000"/>
              <a:buFont typeface="Arial"/>
              <a:buChar char="•"/>
            </a:pPr>
          </a:p>
          <a:p>
            <a:pPr marL="285750" indent="-285750">
              <a:buSzPct val="100000"/>
              <a:buFont typeface="Arial"/>
              <a:buChar char="•"/>
            </a:pPr>
            <a:r>
              <a:t>Our Solution: To replicate the original structure: We added an extra trainable projection layer:</a:t>
            </a:r>
          </a:p>
          <a:p>
            <a:pPr/>
          </a:p>
          <a:p>
            <a:pPr marL="285750" indent="-285750">
              <a:buSzPct val="100000"/>
              <a:buFont typeface="Arial"/>
              <a:buChar char="•"/>
            </a:pPr>
            <a:r>
              <a:t>CLIP output (4096)-&gt;-&gt;-&gt;(up_proj)-&gt;-&gt;-&gt;5632-&gt;-&gt;-&gt;(image_proj)-&gt;-&gt;-&gt;4096(LLaMA hidden embedding size)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extBox 1"/>
          <p:cNvSpPr txBox="1"/>
          <p:nvPr/>
        </p:nvSpPr>
        <p:spPr>
          <a:xfrm>
            <a:off x="318447" y="250209"/>
            <a:ext cx="11589223" cy="4970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3200"/>
            </a:lvl1pPr>
          </a:lstStyle>
          <a:p>
            <a:pPr/>
            <a:r>
              <a:t>Contd..</a:t>
            </a:r>
          </a:p>
        </p:txBody>
      </p:sp>
      <p:sp>
        <p:nvSpPr>
          <p:cNvPr id="121" name="TextBox 2"/>
          <p:cNvSpPr txBox="1"/>
          <p:nvPr/>
        </p:nvSpPr>
        <p:spPr>
          <a:xfrm>
            <a:off x="318447" y="443220"/>
            <a:ext cx="11134298" cy="63274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/>
          </a:p>
          <a:p>
            <a:pPr/>
          </a:p>
          <a:p>
            <a:pPr>
              <a:buSzPct val="100000"/>
              <a:buChar char="•"/>
            </a:pPr>
            <a:r>
              <a:t>But, Due to limited hardware resources, we were unable to load or fine-tune the complete LLaMA decoder so used a smaller text decoder(GPT-2) </a:t>
            </a:r>
          </a:p>
          <a:p>
            <a:pPr>
              <a:buSzPct val="100000"/>
              <a:buChar char="•"/>
            </a:pPr>
          </a:p>
          <a:p>
            <a:pPr>
              <a:defRPr b="1" sz="2100"/>
            </a:pPr>
            <a:r>
              <a:t>GPT-2 lightweight decoder generates reports:</a:t>
            </a:r>
          </a:p>
          <a:p>
            <a:pPr>
              <a:defRPr sz="2100"/>
            </a:pPr>
          </a:p>
          <a:p>
            <a:pPr>
              <a:buSzPct val="100000"/>
              <a:buChar char="•"/>
            </a:pPr>
            <a:r>
              <a:t>Fully compatible with our low-resource hardware</a:t>
            </a:r>
          </a:p>
          <a:p>
            <a:pPr>
              <a:buSzPct val="100000"/>
              <a:buChar char="•"/>
            </a:pPr>
          </a:p>
          <a:p>
            <a:pPr>
              <a:buSzPct val="100000"/>
              <a:buChar char="•"/>
            </a:pPr>
            <a:r>
              <a:t>Entire pipeline trained </a:t>
            </a:r>
            <a:r>
              <a:rPr b="1"/>
              <a:t>from scratch for our dataset</a:t>
            </a:r>
            <a:endParaRPr b="1"/>
          </a:p>
          <a:p>
            <a:pPr>
              <a:buSzPct val="100000"/>
              <a:buChar char="•"/>
              <a:defRPr b="1"/>
            </a:pPr>
          </a:p>
          <a:p>
            <a:pPr>
              <a:buSzPct val="100000"/>
              <a:buChar char="•"/>
            </a:pPr>
            <a:r>
              <a:t>Base GPT-2 model weights remain </a:t>
            </a:r>
            <a:r>
              <a:rPr b="1"/>
              <a:t>frozen</a:t>
            </a:r>
            <a:endParaRPr b="1"/>
          </a:p>
          <a:p>
            <a:pPr>
              <a:buSzPct val="100000"/>
              <a:buChar char="•"/>
              <a:defRPr b="1"/>
            </a:pPr>
          </a:p>
          <a:p>
            <a:pPr>
              <a:buSzPct val="100000"/>
              <a:buChar char="•"/>
            </a:pPr>
            <a:r>
              <a:t>Only </a:t>
            </a:r>
            <a:r>
              <a:rPr b="1"/>
              <a:t>LoRA adapters</a:t>
            </a:r>
            <a:r>
              <a:t> are trained (parameter-efficient fine-tuning)</a:t>
            </a:r>
          </a:p>
          <a:p>
            <a:pPr>
              <a:buSzPct val="100000"/>
              <a:buChar char="•"/>
            </a:pPr>
          </a:p>
          <a:p>
            <a:pPr>
              <a:buSzPct val="100000"/>
              <a:buChar char="•"/>
            </a:pPr>
          </a:p>
          <a:p>
            <a:pPr>
              <a:defRPr sz="2400"/>
            </a:pPr>
            <a:r>
              <a:t>Final Result</a:t>
            </a:r>
          </a:p>
          <a:p>
            <a:pPr marL="285750" indent="-285750">
              <a:buSzPct val="100000"/>
              <a:buFont typeface="Arial"/>
              <a:buChar char="•"/>
            </a:pPr>
          </a:p>
          <a:p>
            <a:pPr marL="285750" indent="-285750">
              <a:buSzPct val="100000"/>
              <a:buFont typeface="Arial"/>
              <a:buChar char="•"/>
            </a:pPr>
            <a:r>
              <a:t>We successfully maintain PeFoMed architecture logic</a:t>
            </a:r>
          </a:p>
          <a:p>
            <a:pPr marL="285750" indent="-285750">
              <a:buSzPct val="100000"/>
              <a:buFont typeface="Arial"/>
              <a:buChar char="•"/>
            </a:pPr>
            <a:r>
              <a:t>But with a fully open-source vision encoder (CLIP) and open source text decoder (GPT-2)</a:t>
            </a:r>
          </a:p>
          <a:p>
            <a:pPr marL="285750" indent="-285750">
              <a:buSzPct val="100000"/>
              <a:buFont typeface="Arial"/>
              <a:buChar char="•"/>
            </a:pPr>
            <a:r>
              <a:t>And minimal trainable parameters (up_proj+image_proj+LoRA)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TextBox 1"/>
          <p:cNvSpPr txBox="1"/>
          <p:nvPr/>
        </p:nvSpPr>
        <p:spPr>
          <a:xfrm>
            <a:off x="204715" y="329820"/>
            <a:ext cx="11668837" cy="4447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800"/>
            </a:lvl1pPr>
          </a:lstStyle>
          <a:p>
            <a:pPr/>
            <a:r>
              <a:t>Final Model Pipeline (Modified: CLIP + Projection + GPT-2 Text Decoder)</a:t>
            </a:r>
          </a:p>
        </p:txBody>
      </p:sp>
      <p:sp>
        <p:nvSpPr>
          <p:cNvPr id="124" name="TextBox 2"/>
          <p:cNvSpPr txBox="1"/>
          <p:nvPr/>
        </p:nvSpPr>
        <p:spPr>
          <a:xfrm>
            <a:off x="329819" y="932727"/>
            <a:ext cx="11543733" cy="55908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/>
            <a:r>
              <a:t>1.⁠ ⁠Image Processing</a:t>
            </a:r>
          </a:p>
          <a:p>
            <a:pPr/>
            <a:r>
              <a:t> • Input image goes into CLIP ViT-L/14 (frozen).</a:t>
            </a:r>
          </a:p>
          <a:p>
            <a:pPr/>
            <a:r>
              <a:t> • Outputs 4096-dim visual embedding.</a:t>
            </a:r>
          </a:p>
          <a:p>
            <a:pPr/>
          </a:p>
          <a:p>
            <a:pPr/>
            <a:r>
              <a:t>2.⁠ ⁠Visual Feature Alignment</a:t>
            </a:r>
          </a:p>
          <a:p>
            <a:pPr/>
            <a:r>
              <a:t> • Up-projection layer: 4096 → 5632 (trainable).</a:t>
            </a:r>
          </a:p>
          <a:p>
            <a:pPr/>
            <a:r>
              <a:t> • Image-projection layer: 5632 → 4096 (trainable).</a:t>
            </a:r>
          </a:p>
          <a:p>
            <a:pPr/>
          </a:p>
          <a:p>
            <a:pPr/>
            <a:r>
              <a:t>3.⁠ ⁠Multimodal Fusion</a:t>
            </a:r>
          </a:p>
          <a:p>
            <a:pPr/>
            <a:r>
              <a:t> • Aligned visual tokens are injected into the GPT-2 decoder.</a:t>
            </a:r>
          </a:p>
          <a:p>
            <a:pPr/>
          </a:p>
          <a:p>
            <a:pPr/>
            <a:r>
              <a:t>4.⁠ ⁠Text Generation</a:t>
            </a:r>
          </a:p>
          <a:p>
            <a:pPr/>
            <a:r>
              <a:t> • GPT-2 generates answers/reports.</a:t>
            </a:r>
          </a:p>
          <a:p>
            <a:pPr/>
            <a:r>
              <a:t> • Base GPT-2 weights frozen.</a:t>
            </a:r>
          </a:p>
          <a:p>
            <a:pPr/>
            <a:r>
              <a:t> • Only LoRA adapters are trained.</a:t>
            </a:r>
          </a:p>
          <a:p>
            <a:pPr/>
          </a:p>
          <a:p>
            <a:pPr/>
            <a:r>
              <a:t>5.⁠ ⁠Efficiency</a:t>
            </a:r>
          </a:p>
          <a:p>
            <a:pPr/>
            <a:r>
              <a:t> • Only projection layers + LoRA are trainable.</a:t>
            </a:r>
          </a:p>
          <a:p>
            <a:pPr/>
            <a:r>
              <a:t> • Achieves parameter-efficient fine-tuning.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BFBF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2" y="0"/>
            <a:ext cx="12192002" cy="6858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extBox 1"/>
          <p:cNvSpPr txBox="1"/>
          <p:nvPr/>
        </p:nvSpPr>
        <p:spPr>
          <a:xfrm>
            <a:off x="582050" y="439615"/>
            <a:ext cx="10925323" cy="4447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800"/>
            </a:lvl1pPr>
          </a:lstStyle>
          <a:p>
            <a:pPr/>
            <a:r>
              <a:t>Mathematics Behind PeFoMed</a:t>
            </a:r>
          </a:p>
        </p:txBody>
      </p:sp>
      <p:sp>
        <p:nvSpPr>
          <p:cNvPr id="129" name="TextBox 2"/>
          <p:cNvSpPr txBox="1"/>
          <p:nvPr/>
        </p:nvSpPr>
        <p:spPr>
          <a:xfrm>
            <a:off x="533692" y="1008152"/>
            <a:ext cx="11022039" cy="54959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285750" indent="-285750">
              <a:buSzPct val="100000"/>
              <a:buFont typeface="Arial"/>
              <a:buChar char="•"/>
              <a:defRPr b="1"/>
            </a:pPr>
            <a:r>
              <a:t>Visual Embedding (ViT EVA)</a:t>
            </a:r>
            <a:r>
              <a:rPr b="0"/>
              <a:t>:Chest X-ray image → split into patches → patch embeddings</a:t>
            </a:r>
            <a:r>
              <a:rPr b="0">
                <a:latin typeface="STIX Two Math Regular"/>
                <a:ea typeface="STIX Two Math Regular"/>
                <a:cs typeface="STIX Two Math Regular"/>
                <a:sym typeface="STIX Two Math Regular"/>
              </a:rPr>
              <a:t> E</a:t>
            </a:r>
            <a:r>
              <a:rPr b="0" sz="1200">
                <a:latin typeface="STIX Two Math Regular"/>
                <a:ea typeface="STIX Two Math Regular"/>
                <a:cs typeface="STIX Two Math Regular"/>
                <a:sym typeface="STIX Two Math Regular"/>
              </a:rPr>
              <a:t>img</a:t>
            </a:r>
            <a:endParaRPr sz="1200"/>
          </a:p>
          <a:p>
            <a:pPr marL="285750" indent="-285750">
              <a:buSzPct val="100000"/>
              <a:buFont typeface="Arial"/>
              <a:buChar char="•"/>
              <a:defRPr sz="1200"/>
            </a:pPr>
          </a:p>
          <a:p>
            <a:pPr marL="285750" indent="-285750">
              <a:buSzPct val="100000"/>
              <a:buFont typeface="Arial"/>
              <a:buChar char="•"/>
              <a:defRPr b="1"/>
            </a:pPr>
          </a:p>
          <a:p>
            <a:pPr marL="285750" indent="-285750">
              <a:buSzPct val="100000"/>
              <a:buFont typeface="Arial"/>
              <a:buChar char="•"/>
              <a:defRPr b="1"/>
            </a:pPr>
            <a:r>
              <a:t>Token Grouping:</a:t>
            </a:r>
            <a:r>
              <a:rPr b="0"/>
              <a:t>4 consecutive visual tokens are concatenated to reduce computation.</a:t>
            </a:r>
          </a:p>
          <a:p>
            <a:pPr marL="285750" indent="-285750">
              <a:buSzPct val="100000"/>
              <a:buFont typeface="Arial"/>
              <a:buChar char="•"/>
            </a:pPr>
            <a:endParaRPr b="1"/>
          </a:p>
          <a:p>
            <a:pPr marL="285750" indent="-285750">
              <a:buSzPct val="100000"/>
              <a:buFont typeface="Arial"/>
              <a:buChar char="•"/>
            </a:pPr>
            <a:endParaRPr b="1"/>
          </a:p>
          <a:p>
            <a:pPr marL="285750" indent="-285750">
              <a:buSzPct val="100000"/>
              <a:buFont typeface="Arial"/>
              <a:buChar char="•"/>
              <a:defRPr b="1"/>
            </a:pPr>
            <a:r>
              <a:t>Projection into LLM Space:</a:t>
            </a:r>
            <a:r>
              <a:rPr b="0"/>
              <a:t>A single linear layer maps visual features into </a:t>
            </a:r>
            <a:r>
              <a:rPr b="0"/>
              <a:t>GPT-2 </a:t>
            </a:r>
            <a:r>
              <a:rPr b="0"/>
              <a:t>hidden space.</a:t>
            </a:r>
            <a:endParaRPr b="0"/>
          </a:p>
          <a:p>
            <a:pPr/>
          </a:p>
          <a:p>
            <a:pPr marL="285750" indent="-285750">
              <a:buSzPct val="100000"/>
              <a:buFont typeface="Arial"/>
              <a:buChar char="•"/>
            </a:pPr>
          </a:p>
          <a:p>
            <a:pPr marL="285750" indent="-285750">
              <a:buSzPct val="100000"/>
              <a:buFont typeface="Arial"/>
              <a:buChar char="•"/>
              <a:defRPr b="1"/>
            </a:pPr>
            <a:r>
              <a:t>LoRA Update Rule (Parameter-Efficient Fine-Tuning):</a:t>
            </a:r>
            <a:r>
              <a:rPr b="0"/>
              <a:t>Instead of updating the full weight W,LoRA learns low-rank matrices-</a:t>
            </a:r>
            <a:endParaRPr b="0">
              <a:latin typeface="STIX Two Math Regular"/>
              <a:ea typeface="STIX Two Math Regular"/>
              <a:cs typeface="STIX Two Math Regular"/>
              <a:sym typeface="STIX Two Math Regular"/>
            </a:endParaRPr>
          </a:p>
          <a:p>
            <a:pPr>
              <a:defRPr>
                <a:latin typeface="STIX Two Math Regular"/>
                <a:ea typeface="STIX Two Math Regular"/>
                <a:cs typeface="STIX Two Math Regular"/>
                <a:sym typeface="STIX Two Math Regular"/>
              </a:defRPr>
            </a:pPr>
          </a:p>
          <a:p>
            <a:pPr>
              <a:defRPr>
                <a:latin typeface="STIX Two Math Regular"/>
                <a:ea typeface="STIX Two Math Regular"/>
                <a:cs typeface="STIX Two Math Regular"/>
                <a:sym typeface="STIX Two Math Regular"/>
              </a:defRPr>
            </a:pPr>
          </a:p>
          <a:p>
            <a:pPr marL="285750" indent="-285750">
              <a:buSzPct val="100000"/>
              <a:buFont typeface="Arial"/>
              <a:buChar char="•"/>
              <a:defRPr b="1"/>
            </a:pPr>
            <a:r>
              <a:t>Prompt Fusion:</a:t>
            </a:r>
            <a:r>
              <a:rPr b="0"/>
              <a:t>Multimodal prompt = [Image embeddings] + [Task token] + [Instruction]</a:t>
            </a:r>
          </a:p>
          <a:p>
            <a:pPr/>
            <a:endParaRPr b="1"/>
          </a:p>
          <a:p>
            <a:pPr/>
            <a:endParaRPr b="1"/>
          </a:p>
          <a:p>
            <a:pPr marL="285750" indent="-285750">
              <a:buSzPct val="100000"/>
              <a:buFont typeface="Arial"/>
              <a:buChar char="•"/>
              <a:defRPr b="1"/>
            </a:pPr>
            <a:r>
              <a:t>Autoregressive Text Generation:</a:t>
            </a:r>
            <a:r>
              <a:t> </a:t>
            </a:r>
            <a:r>
              <a:rPr b="0"/>
              <a:t>GPT-2 </a:t>
            </a:r>
            <a:r>
              <a:rPr b="0"/>
              <a:t>predicts next token</a:t>
            </a:r>
          </a:p>
          <a:p>
            <a:pPr/>
            <a:endParaRPr b="1"/>
          </a:p>
        </p:txBody>
      </p:sp>
      <p:sp>
        <p:nvSpPr>
          <p:cNvPr id="130" name="Minus 5"/>
          <p:cNvSpPr/>
          <p:nvPr/>
        </p:nvSpPr>
        <p:spPr>
          <a:xfrm>
            <a:off x="535697" y="487189"/>
            <a:ext cx="45232" cy="428069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131" name="Screenshot 2025-11-15 at 12.29.09 PM.png" descr="Screenshot 2025-11-15 at 12.29.09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059533" y="1327261"/>
            <a:ext cx="2197102" cy="427938"/>
          </a:xfrm>
          <a:prstGeom prst="rect">
            <a:avLst/>
          </a:prstGeom>
          <a:ln w="12700">
            <a:miter lim="400000"/>
          </a:ln>
        </p:spPr>
      </p:pic>
      <p:pic>
        <p:nvPicPr>
          <p:cNvPr id="132" name="Screenshot 2025-11-15 at 12.31.32 PM.png" descr="Screenshot 2025-11-15 at 12.31.32 P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840332" y="2110682"/>
            <a:ext cx="4635502" cy="427938"/>
          </a:xfrm>
          <a:prstGeom prst="rect">
            <a:avLst/>
          </a:prstGeom>
          <a:ln w="12700">
            <a:miter lim="400000"/>
          </a:ln>
        </p:spPr>
      </p:pic>
      <p:pic>
        <p:nvPicPr>
          <p:cNvPr id="133" name="Screenshot 2025-11-15 at 12.33.26 PM.png" descr="Screenshot 2025-11-15 at 12.33.26 PM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163605" y="2902609"/>
            <a:ext cx="2374902" cy="508002"/>
          </a:xfrm>
          <a:prstGeom prst="rect">
            <a:avLst/>
          </a:prstGeom>
          <a:ln w="12700">
            <a:miter lim="400000"/>
          </a:ln>
        </p:spPr>
      </p:pic>
      <p:pic>
        <p:nvPicPr>
          <p:cNvPr id="134" name="Screenshot 2025-11-15 at 12.34.39 PM.png" descr="Screenshot 2025-11-15 at 12.34.39 PM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2512606" y="3854129"/>
            <a:ext cx="5676903" cy="427939"/>
          </a:xfrm>
          <a:prstGeom prst="rect">
            <a:avLst/>
          </a:prstGeom>
          <a:ln w="12700">
            <a:miter lim="400000"/>
          </a:ln>
        </p:spPr>
      </p:pic>
      <p:pic>
        <p:nvPicPr>
          <p:cNvPr id="135" name="Screenshot 2025-11-15 at 12.36.00 PM.png" descr="Screenshot 2025-11-15 at 12.36.00 PM.pn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2414878" y="4858713"/>
            <a:ext cx="5486403" cy="427939"/>
          </a:xfrm>
          <a:prstGeom prst="rect">
            <a:avLst/>
          </a:prstGeom>
          <a:ln w="12700">
            <a:miter lim="400000"/>
          </a:ln>
        </p:spPr>
      </p:pic>
      <p:pic>
        <p:nvPicPr>
          <p:cNvPr id="136" name="Screenshot 2025-11-15 at 12.36.52 PM.png" descr="Screenshot 2025-11-15 at 12.36.52 PM.png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3456280" y="5730171"/>
            <a:ext cx="3403602" cy="54480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Box 1"/>
          <p:cNvSpPr txBox="1"/>
          <p:nvPr/>
        </p:nvSpPr>
        <p:spPr>
          <a:xfrm>
            <a:off x="634804" y="369276"/>
            <a:ext cx="10872569" cy="4447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800"/>
            </a:lvl1pPr>
          </a:lstStyle>
          <a:p>
            <a:pPr/>
            <a:r>
              <a:t>Methodology</a:t>
            </a:r>
          </a:p>
        </p:txBody>
      </p:sp>
      <p:sp>
        <p:nvSpPr>
          <p:cNvPr id="139" name="TextBox 2"/>
          <p:cNvSpPr txBox="1"/>
          <p:nvPr/>
        </p:nvSpPr>
        <p:spPr>
          <a:xfrm>
            <a:off x="634804" y="1362807"/>
            <a:ext cx="11022039" cy="6251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/>
            <a:r>
              <a:t>Our approach uses the </a:t>
            </a:r>
            <a:r>
              <a:rPr>
                <a:solidFill>
                  <a:srgbClr val="2E75B6"/>
                </a:solidFill>
              </a:rPr>
              <a:t>PeFoMed framework</a:t>
            </a:r>
            <a:r>
              <a:t>, a parameter-efficient method for fine-tuning multimodal large language models for medical report generation.</a:t>
            </a:r>
          </a:p>
        </p:txBody>
      </p:sp>
      <p:sp>
        <p:nvSpPr>
          <p:cNvPr id="140" name="Minus 3"/>
          <p:cNvSpPr/>
          <p:nvPr/>
        </p:nvSpPr>
        <p:spPr>
          <a:xfrm>
            <a:off x="535697" y="487189"/>
            <a:ext cx="45232" cy="428069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1" name="Rounded Rectangle 7"/>
          <p:cNvSpPr/>
          <p:nvPr/>
        </p:nvSpPr>
        <p:spPr>
          <a:xfrm>
            <a:off x="589085" y="2224452"/>
            <a:ext cx="5196255" cy="3508134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2" name="Rounded Rectangle 9"/>
          <p:cNvSpPr/>
          <p:nvPr/>
        </p:nvSpPr>
        <p:spPr>
          <a:xfrm>
            <a:off x="6356839" y="2224452"/>
            <a:ext cx="5196255" cy="146832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3" name="TextBox 10"/>
          <p:cNvSpPr txBox="1"/>
          <p:nvPr/>
        </p:nvSpPr>
        <p:spPr>
          <a:xfrm>
            <a:off x="902968" y="2478938"/>
            <a:ext cx="4568485" cy="2961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algn="ctr">
              <a:defRPr b="1"/>
            </a:pPr>
            <a:r>
              <a:t>Dataset Preparation</a:t>
            </a:r>
          </a:p>
          <a:p>
            <a:pPr>
              <a:defRPr>
                <a:solidFill>
                  <a:srgbClr val="2E75B6"/>
                </a:solidFill>
              </a:defRPr>
            </a:pPr>
            <a:r>
              <a:t> • Base dataset: CheXpert (14 medical condition labels).</a:t>
            </a:r>
          </a:p>
          <a:p>
            <a:pPr>
              <a:defRPr>
                <a:solidFill>
                  <a:srgbClr val="2E75B6"/>
                </a:solidFill>
              </a:defRPr>
            </a:pPr>
            <a:r>
              <a:t> • Each image-label pair was used as input to </a:t>
            </a:r>
            <a:r>
              <a:t>LLaMA </a:t>
            </a:r>
            <a:r>
              <a:t>to generate descriptive text reports. </a:t>
            </a:r>
          </a:p>
          <a:p>
            <a:pPr>
              <a:defRPr>
                <a:solidFill>
                  <a:srgbClr val="2E75B6"/>
                </a:solidFill>
              </a:defRPr>
            </a:pPr>
            <a:r>
              <a:t>• Verified </a:t>
            </a:r>
            <a:r>
              <a:t>100</a:t>
            </a:r>
            <a:r>
              <a:t> randomly selected samples manually — the generated reports were accurate, label-consistent, and hallucination-</a:t>
            </a:r>
          </a:p>
          <a:p>
            <a:pPr>
              <a:defRPr>
                <a:solidFill>
                  <a:srgbClr val="2E75B6"/>
                </a:solidFill>
              </a:defRPr>
            </a:pPr>
            <a:r>
              <a:t>So proceeded with generating for around 13k samples</a:t>
            </a:r>
          </a:p>
        </p:txBody>
      </p:sp>
      <p:sp>
        <p:nvSpPr>
          <p:cNvPr id="144" name="TextBox 11"/>
          <p:cNvSpPr txBox="1"/>
          <p:nvPr/>
        </p:nvSpPr>
        <p:spPr>
          <a:xfrm>
            <a:off x="6670723" y="2466239"/>
            <a:ext cx="4568484" cy="1209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algn="ctr">
              <a:defRPr b="1"/>
            </a:pPr>
            <a:r>
              <a:t>Data Split </a:t>
            </a:r>
          </a:p>
          <a:p>
            <a:pPr>
              <a:defRPr>
                <a:solidFill>
                  <a:srgbClr val="2E75B6"/>
                </a:solidFill>
              </a:defRPr>
            </a:pPr>
            <a:r>
              <a:t>• Total samples: </a:t>
            </a:r>
            <a:r>
              <a:t>10868(after cleaning)</a:t>
            </a:r>
          </a:p>
          <a:p>
            <a:pPr>
              <a:defRPr>
                <a:solidFill>
                  <a:srgbClr val="2E75B6"/>
                </a:solidFill>
              </a:defRPr>
            </a:pPr>
            <a:r>
              <a:t> • Split into Train: </a:t>
            </a:r>
            <a:r>
              <a:t>9761</a:t>
            </a:r>
            <a:r>
              <a:t>, Validation: </a:t>
            </a:r>
            <a:r>
              <a:t>907,</a:t>
            </a:r>
            <a:r>
              <a:t> Test: </a:t>
            </a:r>
            <a:r>
              <a:t>200</a:t>
            </a:r>
          </a:p>
        </p:txBody>
      </p:sp>
      <p:grpSp>
        <p:nvGrpSpPr>
          <p:cNvPr id="147" name="Rounded Rectangle 12"/>
          <p:cNvGrpSpPr/>
          <p:nvPr/>
        </p:nvGrpSpPr>
        <p:grpSpPr>
          <a:xfrm>
            <a:off x="6356839" y="3934557"/>
            <a:ext cx="5196256" cy="1622186"/>
            <a:chOff x="0" y="0"/>
            <a:chExt cx="5196254" cy="1622184"/>
          </a:xfrm>
        </p:grpSpPr>
        <p:sp>
          <p:nvSpPr>
            <p:cNvPr id="145" name="Rounded Rectangle"/>
            <p:cNvSpPr/>
            <p:nvPr/>
          </p:nvSpPr>
          <p:spPr>
            <a:xfrm>
              <a:off x="0" y="0"/>
              <a:ext cx="5196255" cy="1622185"/>
            </a:xfrm>
            <a:prstGeom prst="roundRect">
              <a:avLst>
                <a:gd name="adj" fmla="val 16667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2E75B6"/>
                  </a:solidFill>
                </a:defRPr>
              </a:pPr>
            </a:p>
          </p:txBody>
        </p:sp>
        <p:sp>
          <p:nvSpPr>
            <p:cNvPr id="146" name="Model Training…"/>
            <p:cNvSpPr txBox="1"/>
            <p:nvPr/>
          </p:nvSpPr>
          <p:spPr>
            <a:xfrm>
              <a:off x="124908" y="206400"/>
              <a:ext cx="4946439" cy="12093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defRPr b="1"/>
              </a:pPr>
              <a:r>
                <a:t>Model Training </a:t>
              </a:r>
            </a:p>
            <a:p>
              <a:pPr algn="ctr">
                <a:defRPr>
                  <a:solidFill>
                    <a:srgbClr val="2E75B6"/>
                  </a:solidFill>
                </a:defRPr>
              </a:pPr>
              <a:r>
                <a:t>• Input: X-ray image</a:t>
              </a:r>
              <a:endParaRPr>
                <a:solidFill>
                  <a:srgbClr val="FFFFFF"/>
                </a:solidFill>
              </a:endParaRPr>
            </a:p>
            <a:p>
              <a:pPr algn="ctr">
                <a:defRPr>
                  <a:solidFill>
                    <a:srgbClr val="2E75B6"/>
                  </a:solidFill>
                </a:defRPr>
              </a:pPr>
              <a:r>
                <a:t> • Output: LLM-generated text report </a:t>
              </a:r>
            </a:p>
            <a:p>
              <a:pPr algn="ctr">
                <a:defRPr>
                  <a:solidFill>
                    <a:srgbClr val="2E75B6"/>
                  </a:solidFill>
                </a:defRPr>
              </a:pPr>
              <a:r>
                <a:t>• Trained for </a:t>
              </a:r>
              <a:r>
                <a:t>3</a:t>
              </a:r>
              <a:r>
                <a:t> epochs using the custom dataset.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TextBox 1"/>
          <p:cNvSpPr txBox="1"/>
          <p:nvPr/>
        </p:nvSpPr>
        <p:spPr>
          <a:xfrm>
            <a:off x="634804" y="369276"/>
            <a:ext cx="10872569" cy="4447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800"/>
            </a:lvl1pPr>
          </a:lstStyle>
          <a:p>
            <a:pPr/>
            <a:r>
              <a:t>Experimental Design</a:t>
            </a:r>
          </a:p>
        </p:txBody>
      </p:sp>
      <p:sp>
        <p:nvSpPr>
          <p:cNvPr id="150" name="TextBox 2"/>
          <p:cNvSpPr txBox="1"/>
          <p:nvPr/>
        </p:nvSpPr>
        <p:spPr>
          <a:xfrm>
            <a:off x="634804" y="1151867"/>
            <a:ext cx="11022039" cy="554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600"/>
            </a:lvl1pPr>
          </a:lstStyle>
          <a:p>
            <a:pPr/>
            <a:r>
              <a:t>We conduct a comparative study to evaluate the impact of large-scale, multigranular pre-training on medical report generation quality.</a:t>
            </a:r>
          </a:p>
        </p:txBody>
      </p:sp>
      <p:sp>
        <p:nvSpPr>
          <p:cNvPr id="151" name="Minus 3"/>
          <p:cNvSpPr/>
          <p:nvPr/>
        </p:nvSpPr>
        <p:spPr>
          <a:xfrm>
            <a:off x="535697" y="487189"/>
            <a:ext cx="45232" cy="428069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2" name="TextBox 16"/>
          <p:cNvSpPr txBox="1"/>
          <p:nvPr/>
        </p:nvSpPr>
        <p:spPr>
          <a:xfrm>
            <a:off x="999684" y="4790069"/>
            <a:ext cx="10142808" cy="16213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>
                <a:solidFill>
                  <a:srgbClr val="2E75B6"/>
                </a:solidFill>
              </a:defRPr>
            </a:pPr>
            <a:r>
              <a:t>Evaluation Metrics:</a:t>
            </a:r>
          </a:p>
          <a:p>
            <a:pPr>
              <a:defRPr sz="1700"/>
            </a:pPr>
          </a:p>
          <a:p>
            <a:pPr marL="285750" indent="-285750">
              <a:buClr>
                <a:srgbClr val="2E75B6"/>
              </a:buClr>
              <a:buSzPct val="100000"/>
              <a:buFont typeface="Arial"/>
              <a:buChar char="•"/>
              <a:defRPr b="1" sz="1600"/>
            </a:pPr>
            <a:r>
              <a:t>ROUGE-L — </a:t>
            </a:r>
            <a:r>
              <a:rPr b="0"/>
              <a:t>measures textual overlap between generated and reference reports.</a:t>
            </a:r>
          </a:p>
          <a:p>
            <a:pPr marL="285750" indent="-285750">
              <a:buClr>
                <a:srgbClr val="2E75B6"/>
              </a:buClr>
              <a:buSzPct val="100000"/>
              <a:buFont typeface="Arial"/>
              <a:buChar char="•"/>
              <a:defRPr b="1" sz="1600"/>
            </a:pPr>
            <a:r>
              <a:t>METEOR — </a:t>
            </a:r>
            <a:r>
              <a:rPr b="0"/>
              <a:t>evaluates precision, recall, and alignment of phrases.</a:t>
            </a:r>
          </a:p>
          <a:p>
            <a:pPr marL="285750" indent="-285750">
              <a:buClr>
                <a:srgbClr val="2E75B6"/>
              </a:buClr>
              <a:buSzPct val="100000"/>
              <a:buFont typeface="Arial"/>
              <a:buChar char="•"/>
              <a:defRPr b="1" sz="1600"/>
            </a:pPr>
            <a:r>
              <a:t>CIDEr — </a:t>
            </a:r>
            <a:r>
              <a:rPr b="0"/>
              <a:t>measures consensus between generated reports and human-written reports.</a:t>
            </a:r>
          </a:p>
          <a:p>
            <a:pPr marL="285750" indent="-285750">
              <a:buClr>
                <a:srgbClr val="2E75B6"/>
              </a:buClr>
              <a:buSzPct val="100000"/>
              <a:buFont typeface="Arial"/>
              <a:buChar char="•"/>
              <a:defRPr b="1" sz="1600"/>
            </a:pPr>
            <a:r>
              <a:t>Exact Match (EM) </a:t>
            </a:r>
            <a:r>
              <a:rPr b="0"/>
              <a:t>— checks if generated reports exactly match reference reports.</a:t>
            </a:r>
          </a:p>
        </p:txBody>
      </p:sp>
      <p:sp>
        <p:nvSpPr>
          <p:cNvPr id="153" name="Rounded Rectangle 13"/>
          <p:cNvSpPr/>
          <p:nvPr/>
        </p:nvSpPr>
        <p:spPr>
          <a:xfrm>
            <a:off x="1444135" y="1996014"/>
            <a:ext cx="9403375" cy="2644208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4" name="TextBox 14"/>
          <p:cNvSpPr txBox="1"/>
          <p:nvPr/>
        </p:nvSpPr>
        <p:spPr>
          <a:xfrm>
            <a:off x="1692079" y="2150336"/>
            <a:ext cx="2203353" cy="3104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700"/>
            </a:lvl1pPr>
          </a:lstStyle>
          <a:p>
            <a:pPr/>
            <a:r>
              <a:t>Implementation Details</a:t>
            </a:r>
          </a:p>
        </p:txBody>
      </p:sp>
      <p:sp>
        <p:nvSpPr>
          <p:cNvPr id="155" name="Minus 15"/>
          <p:cNvSpPr/>
          <p:nvPr/>
        </p:nvSpPr>
        <p:spPr>
          <a:xfrm>
            <a:off x="1563930" y="2608169"/>
            <a:ext cx="9004059" cy="21961"/>
          </a:xfrm>
          <a:prstGeom prst="rect">
            <a:avLst/>
          </a:prstGeom>
          <a:solidFill>
            <a:srgbClr val="2E75B6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6" name="TextBox 17"/>
          <p:cNvSpPr txBox="1"/>
          <p:nvPr/>
        </p:nvSpPr>
        <p:spPr>
          <a:xfrm>
            <a:off x="1692077" y="2783664"/>
            <a:ext cx="8094200" cy="1316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285750" indent="-285750">
              <a:buClr>
                <a:srgbClr val="2E75B6"/>
              </a:buClr>
              <a:buSzPct val="100000"/>
              <a:buFont typeface="Arial"/>
              <a:buChar char="•"/>
              <a:defRPr sz="1600"/>
            </a:pPr>
            <a:r>
              <a:t>Frameworks:PyTorch, HuggingFace Transformers</a:t>
            </a:r>
          </a:p>
          <a:p>
            <a:pPr marL="285750" indent="-285750">
              <a:buClr>
                <a:srgbClr val="2E75B6"/>
              </a:buClr>
              <a:buSzPct val="100000"/>
              <a:buFont typeface="Arial"/>
              <a:buChar char="•"/>
              <a:defRPr sz="1600"/>
            </a:pPr>
            <a:r>
              <a:t>Hardware Apple M-series GPU (MPS backend)</a:t>
            </a:r>
          </a:p>
          <a:p>
            <a:pPr marL="285750" indent="-285750">
              <a:buClr>
                <a:srgbClr val="2E75B6"/>
              </a:buClr>
              <a:buSzPct val="100000"/>
              <a:buFont typeface="Arial"/>
              <a:buChar char="•"/>
              <a:defRPr sz="1600"/>
            </a:pPr>
            <a:r>
              <a:t>Training Duration\~ </a:t>
            </a:r>
            <a:r>
              <a:t>30 mins</a:t>
            </a:r>
            <a:r>
              <a:t> per epoch processed efficiently</a:t>
            </a:r>
          </a:p>
          <a:p>
            <a:pPr marL="285750" indent="-285750">
              <a:buClr>
                <a:srgbClr val="2E75B6"/>
              </a:buClr>
              <a:buSzPct val="100000"/>
              <a:buFont typeface="Arial"/>
              <a:buChar char="•"/>
              <a:defRPr sz="1600"/>
            </a:pPr>
            <a:r>
              <a:t>LLM Used </a:t>
            </a:r>
            <a:r>
              <a:t>LLaMA </a:t>
            </a:r>
            <a:r>
              <a:t>for text generation</a:t>
            </a:r>
          </a:p>
          <a:p>
            <a:pPr marL="285750" indent="-285750">
              <a:buClr>
                <a:srgbClr val="2E75B6"/>
              </a:buClr>
              <a:buSzPct val="100000"/>
              <a:buFont typeface="Arial"/>
              <a:buChar char="•"/>
              <a:defRPr sz="1600"/>
            </a:pPr>
            <a:r>
              <a:t>PeFoMed Checkpoint Loaded pretrained weights and fine-tuned for </a:t>
            </a:r>
            <a:r>
              <a:t>3</a:t>
            </a:r>
            <a:r>
              <a:t> epochs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TextBox 1"/>
          <p:cNvSpPr txBox="1"/>
          <p:nvPr/>
        </p:nvSpPr>
        <p:spPr>
          <a:xfrm>
            <a:off x="634804" y="439615"/>
            <a:ext cx="10872569" cy="4447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800"/>
            </a:lvl1pPr>
          </a:lstStyle>
          <a:p>
            <a:pPr/>
            <a:r>
              <a:t>Results</a:t>
            </a:r>
          </a:p>
        </p:txBody>
      </p:sp>
      <p:sp>
        <p:nvSpPr>
          <p:cNvPr id="159" name="TextBox 2"/>
          <p:cNvSpPr txBox="1"/>
          <p:nvPr/>
        </p:nvSpPr>
        <p:spPr>
          <a:xfrm>
            <a:off x="580928" y="1036600"/>
            <a:ext cx="11022039" cy="35461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b="1"/>
            </a:pPr>
            <a:r>
              <a:t>Training Logs</a:t>
            </a:r>
          </a:p>
          <a:p>
            <a:pPr>
              <a:defRPr b="1"/>
            </a:pPr>
          </a:p>
          <a:p>
            <a:pPr/>
            <a:r>
              <a:t>Epoch 1:Avg Loss</a:t>
            </a:r>
            <a:r>
              <a:t>:</a:t>
            </a:r>
            <a:r>
              <a:t> </a:t>
            </a:r>
            <a:r>
              <a:t>0.9069 </a:t>
            </a:r>
          </a:p>
          <a:p>
            <a:pPr/>
            <a:r>
              <a:t>Validation Metrics: ROUGE-L 0.1447, METEOR 0.1146, CIDEr 0.0966, EM 0.0000</a:t>
            </a:r>
          </a:p>
          <a:p>
            <a:pPr/>
          </a:p>
          <a:p>
            <a:pPr/>
            <a:r>
              <a:t>Epoch 2:Avg Loss: 0.4718</a:t>
            </a:r>
          </a:p>
          <a:p>
            <a:pPr/>
            <a:r>
              <a:t>Validation Metrics: ROUGE-L 0.1589, METEOR 0.1042, CIDEr 0.1003, EM 0.0000</a:t>
            </a:r>
          </a:p>
          <a:p>
            <a:pPr/>
          </a:p>
          <a:p>
            <a:pPr/>
            <a:r>
              <a:t>Epoch 3:Avg Loss: 0.4718</a:t>
            </a:r>
          </a:p>
          <a:p>
            <a:pPr/>
            <a:r>
              <a:t>Validation Metrics: ROUGE-L </a:t>
            </a:r>
            <a:r>
              <a:t>0.1712</a:t>
            </a:r>
            <a:r>
              <a:t>, METEOR </a:t>
            </a:r>
            <a:r>
              <a:t>0.1180</a:t>
            </a:r>
            <a:r>
              <a:t>, CIDEr </a:t>
            </a:r>
            <a:r>
              <a:t>0.1125</a:t>
            </a:r>
            <a:r>
              <a:t>, EM 0.0000</a:t>
            </a:r>
          </a:p>
          <a:p>
            <a:pPr/>
          </a:p>
          <a:p>
            <a:pPr marL="285750" indent="-285750">
              <a:buClr>
                <a:srgbClr val="2E75B6"/>
              </a:buClr>
              <a:buSzPct val="100000"/>
              <a:buFont typeface="Arial"/>
              <a:buChar char="•"/>
              <a:defRPr b="1"/>
            </a:pPr>
            <a:r>
              <a:t>Report Completeness</a:t>
            </a:r>
            <a:r>
              <a:rPr b="0"/>
              <a:t>: More comprehensive coverage of all clinically relevant findings.</a:t>
            </a:r>
          </a:p>
        </p:txBody>
      </p:sp>
      <p:sp>
        <p:nvSpPr>
          <p:cNvPr id="160" name="Minus 3"/>
          <p:cNvSpPr/>
          <p:nvPr/>
        </p:nvSpPr>
        <p:spPr>
          <a:xfrm>
            <a:off x="535697" y="487189"/>
            <a:ext cx="45232" cy="428069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1" name="Rectangle 12"/>
          <p:cNvSpPr/>
          <p:nvPr/>
        </p:nvSpPr>
        <p:spPr>
          <a:xfrm>
            <a:off x="870436" y="4554415"/>
            <a:ext cx="4607172" cy="1721231"/>
          </a:xfrm>
          <a:prstGeom prst="rect">
            <a:avLst/>
          </a:prstGeom>
          <a:solidFill>
            <a:srgbClr val="F2F2F2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2" name="Minus 14"/>
          <p:cNvSpPr/>
          <p:nvPr/>
        </p:nvSpPr>
        <p:spPr>
          <a:xfrm rot="16200000">
            <a:off x="5239" y="5383750"/>
            <a:ext cx="1686444" cy="55837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3" name="Rectangle 15"/>
          <p:cNvSpPr/>
          <p:nvPr/>
        </p:nvSpPr>
        <p:spPr>
          <a:xfrm>
            <a:off x="5920154" y="4550019"/>
            <a:ext cx="4607171" cy="1725624"/>
          </a:xfrm>
          <a:prstGeom prst="rect">
            <a:avLst/>
          </a:prstGeom>
          <a:solidFill>
            <a:srgbClr val="F2F2F2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4" name="Minus 16"/>
          <p:cNvSpPr/>
          <p:nvPr/>
        </p:nvSpPr>
        <p:spPr>
          <a:xfrm rot="16200000">
            <a:off x="5060081" y="5373582"/>
            <a:ext cx="1686445" cy="7617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5" name="TextBox 19"/>
          <p:cNvSpPr txBox="1"/>
          <p:nvPr/>
        </p:nvSpPr>
        <p:spPr>
          <a:xfrm>
            <a:off x="1012878" y="4705985"/>
            <a:ext cx="4078302" cy="15705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algn="ctr">
              <a:defRPr b="1" sz="1600">
                <a:solidFill>
                  <a:srgbClr val="2E75B6"/>
                </a:solidFill>
              </a:defRPr>
            </a:pPr>
            <a:r>
              <a:t>Evaluation Results</a:t>
            </a:r>
          </a:p>
          <a:p>
            <a:pPr algn="ctr">
              <a:defRPr b="1" sz="1600">
                <a:solidFill>
                  <a:srgbClr val="2E75B6"/>
                </a:solidFill>
              </a:defRPr>
            </a:pPr>
          </a:p>
          <a:p>
            <a:pPr algn="ctr">
              <a:defRPr sz="1600">
                <a:solidFill>
                  <a:srgbClr val="2E75B6"/>
                </a:solidFill>
              </a:defRPr>
            </a:pPr>
            <a:r>
              <a:t>ROUGE-L </a:t>
            </a:r>
            <a:r>
              <a:t>0.129</a:t>
            </a:r>
          </a:p>
          <a:p>
            <a:pPr algn="ctr">
              <a:defRPr sz="1600">
                <a:solidFill>
                  <a:srgbClr val="2E75B6"/>
                </a:solidFill>
              </a:defRPr>
            </a:pPr>
            <a:r>
              <a:t>METEOR </a:t>
            </a:r>
            <a:r>
              <a:t>0.095</a:t>
            </a:r>
          </a:p>
          <a:p>
            <a:pPr algn="ctr">
              <a:defRPr sz="1600">
                <a:solidFill>
                  <a:srgbClr val="2E75B6"/>
                </a:solidFill>
              </a:defRPr>
            </a:pPr>
            <a:r>
              <a:t>CIDEr </a:t>
            </a:r>
            <a:r>
              <a:t>0.173</a:t>
            </a:r>
          </a:p>
          <a:p>
            <a:pPr algn="ctr">
              <a:defRPr sz="1600">
                <a:solidFill>
                  <a:srgbClr val="2E75B6"/>
                </a:solidFill>
              </a:defRPr>
            </a:pPr>
            <a:r>
              <a:t>EM  0.0</a:t>
            </a:r>
            <a:r>
              <a:t>00</a:t>
            </a:r>
          </a:p>
        </p:txBody>
      </p:sp>
      <p:sp>
        <p:nvSpPr>
          <p:cNvPr id="166" name="TextBox 20"/>
          <p:cNvSpPr txBox="1"/>
          <p:nvPr/>
        </p:nvSpPr>
        <p:spPr>
          <a:xfrm>
            <a:off x="6166930" y="4509142"/>
            <a:ext cx="3763988" cy="18245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algn="ctr">
              <a:defRPr b="1" sz="1600">
                <a:solidFill>
                  <a:srgbClr val="2E75B6"/>
                </a:solidFill>
              </a:defRPr>
            </a:pPr>
            <a:r>
              <a:t>Observations</a:t>
            </a:r>
          </a:p>
          <a:p>
            <a:pPr algn="ctr">
              <a:defRPr sz="1600">
                <a:solidFill>
                  <a:srgbClr val="2E75B6"/>
                </a:solidFill>
              </a:defRPr>
            </a:pPr>
            <a:r>
              <a:t>Across three epochs, the model showed consistent improvements in ROUGE-L, METEOR, and CIDEr. This indicates that the multimodal alignment and LoRA fine-tuning strategy successfully learned image-conditioned report generation.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TextBox 1"/>
          <p:cNvSpPr txBox="1"/>
          <p:nvPr/>
        </p:nvSpPr>
        <p:spPr>
          <a:xfrm>
            <a:off x="634804" y="439615"/>
            <a:ext cx="10872569" cy="4447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800"/>
            </a:lvl1pPr>
          </a:lstStyle>
          <a:p>
            <a:pPr/>
            <a:r>
              <a:t>Comparison with Prior Medical Report Generation Models</a:t>
            </a:r>
          </a:p>
        </p:txBody>
      </p:sp>
      <p:sp>
        <p:nvSpPr>
          <p:cNvPr id="169" name="TextBox 2"/>
          <p:cNvSpPr txBox="1"/>
          <p:nvPr/>
        </p:nvSpPr>
        <p:spPr>
          <a:xfrm>
            <a:off x="584980" y="1036600"/>
            <a:ext cx="11022040" cy="5165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/>
          </a:p>
          <a:p>
            <a:pPr/>
          </a:p>
          <a:p>
            <a:pPr/>
          </a:p>
          <a:p>
            <a:pPr marL="285750" indent="-285750">
              <a:buClr>
                <a:srgbClr val="2E75B6"/>
              </a:buClr>
              <a:buSzPct val="100000"/>
              <a:buFont typeface="Arial"/>
              <a:buChar char="•"/>
            </a:pPr>
            <a:r>
              <a:t>Our model (</a:t>
            </a:r>
            <a:r>
              <a:rPr i="1"/>
              <a:t>PeFoMed-Light</a:t>
            </a:r>
            <a:r>
              <a:t>) achieves reasonable METEOR/ROUGE-L/CIDEr scores despite using synthetic supervision and only 56K trainable parameters, unlike large LLM baselines.</a:t>
            </a:r>
          </a:p>
          <a:p>
            <a:pPr marL="285750" indent="-285750">
              <a:buClr>
                <a:srgbClr val="2E75B6"/>
              </a:buClr>
              <a:buSzPct val="100000"/>
              <a:buFont typeface="Arial"/>
              <a:buChar char="•"/>
            </a:pPr>
            <a:r>
              <a:t>Full PeFoMed and R2Gen perform higher numerically because they are trained on </a:t>
            </a:r>
            <a:r>
              <a:rPr b="1"/>
              <a:t>real IU-Xray paired reports</a:t>
            </a:r>
            <a:r>
              <a:t>, whereas ours is trained only on </a:t>
            </a:r>
            <a:r>
              <a:rPr b="1"/>
              <a:t>LLaMA-generated synthetic findings</a:t>
            </a:r>
            <a:r>
              <a:t>.</a:t>
            </a:r>
          </a:p>
          <a:p>
            <a:pPr marL="285750" indent="-285750">
              <a:buClr>
                <a:srgbClr val="2E75B6"/>
              </a:buClr>
              <a:buSzPct val="100000"/>
              <a:buFont typeface="Arial"/>
              <a:buChar char="•"/>
            </a:pPr>
            <a:r>
              <a:t>This comparison highlights that our lightweight architecture remains </a:t>
            </a:r>
            <a:r>
              <a:rPr b="1"/>
              <a:t>clinically coherent</a:t>
            </a:r>
            <a:r>
              <a:t>, </a:t>
            </a:r>
            <a:r>
              <a:rPr b="1"/>
              <a:t>hallucination-free</a:t>
            </a:r>
            <a:r>
              <a:t>, and </a:t>
            </a:r>
            <a:r>
              <a:rPr b="1"/>
              <a:t>far more computationally efficient</a:t>
            </a:r>
            <a:r>
              <a:t> than existing heavy models.</a:t>
            </a:r>
          </a:p>
        </p:txBody>
      </p:sp>
      <p:pic>
        <p:nvPicPr>
          <p:cNvPr id="170" name="Screenshot 2025-11-29 at 8.40.22 PM.png" descr="Screenshot 2025-11-29 at 8.40.22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4980" y="1036600"/>
            <a:ext cx="9525001" cy="2679701"/>
          </a:xfrm>
          <a:prstGeom prst="rect">
            <a:avLst/>
          </a:prstGeom>
          <a:ln w="12700">
            <a:miter lim="400000"/>
          </a:ln>
        </p:spPr>
      </p:pic>
      <p:sp>
        <p:nvSpPr>
          <p:cNvPr id="171" name="Minus 3"/>
          <p:cNvSpPr/>
          <p:nvPr/>
        </p:nvSpPr>
        <p:spPr>
          <a:xfrm>
            <a:off x="535697" y="487189"/>
            <a:ext cx="45232" cy="428069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Screenshot 2025-11-29 at 8.40.22 PM.png" descr="Screenshot 2025-11-29 at 8.40.22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39800" y="1758950"/>
            <a:ext cx="9525000" cy="26797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TextBox 4"/>
          <p:cNvSpPr txBox="1"/>
          <p:nvPr/>
        </p:nvSpPr>
        <p:spPr>
          <a:xfrm>
            <a:off x="634804" y="439615"/>
            <a:ext cx="10872569" cy="4447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800"/>
            </a:lvl1pPr>
          </a:lstStyle>
          <a:p>
            <a:pPr/>
            <a:r>
              <a:t>Conclusion and Future work</a:t>
            </a:r>
          </a:p>
        </p:txBody>
      </p:sp>
      <p:sp>
        <p:nvSpPr>
          <p:cNvPr id="176" name="TextBox 5"/>
          <p:cNvSpPr txBox="1"/>
          <p:nvPr/>
        </p:nvSpPr>
        <p:spPr>
          <a:xfrm>
            <a:off x="573258" y="1382459"/>
            <a:ext cx="11022039" cy="23777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/>
            <a:r>
              <a:t>The LLM-generated reports from </a:t>
            </a:r>
            <a:r>
              <a:t>LLaMA </a:t>
            </a:r>
            <a:r>
              <a:t>proved highly reliable and aligned with the 14 CheXpert labels. PeFoMed successfully learned to map X-ray images to meaningful clinical text.</a:t>
            </a:r>
          </a:p>
          <a:p>
            <a:pPr/>
          </a:p>
          <a:p>
            <a:pPr>
              <a:defRPr b="1"/>
            </a:pPr>
            <a:r>
              <a:t>Future work includes</a:t>
            </a:r>
            <a:r>
              <a:rPr b="0"/>
              <a:t>:</a:t>
            </a:r>
          </a:p>
          <a:p>
            <a:pPr marL="285750" indent="-285750">
              <a:buSzPct val="100000"/>
              <a:buFont typeface="Arial"/>
              <a:buChar char="•"/>
            </a:pPr>
            <a:r>
              <a:t>Expanding dataset size</a:t>
            </a:r>
          </a:p>
          <a:p>
            <a:pPr marL="285750" indent="-285750">
              <a:buSzPct val="100000"/>
              <a:buFont typeface="Arial"/>
              <a:buChar char="•"/>
            </a:pPr>
            <a:r>
              <a:t>Training on llama as decoder (if resource provided)</a:t>
            </a:r>
          </a:p>
          <a:p>
            <a:pPr marL="285750" indent="-285750">
              <a:buSzPct val="100000"/>
              <a:buFont typeface="Arial"/>
              <a:buChar char="•"/>
            </a:pPr>
            <a:r>
              <a:t>Replacing vision </a:t>
            </a:r>
            <a:r>
              <a:t>encoder </a:t>
            </a:r>
            <a:r>
              <a:t>with Vmamba</a:t>
            </a:r>
          </a:p>
          <a:p>
            <a:pPr marL="285750" indent="-285750">
              <a:buSzPct val="100000"/>
              <a:buFont typeface="Arial"/>
              <a:buChar char="•"/>
            </a:pPr>
            <a:r>
              <a:t>Adding MoE on text decoder and vision encoder part</a:t>
            </a:r>
          </a:p>
        </p:txBody>
      </p:sp>
      <p:sp>
        <p:nvSpPr>
          <p:cNvPr id="177" name="Minus 6"/>
          <p:cNvSpPr/>
          <p:nvPr/>
        </p:nvSpPr>
        <p:spPr>
          <a:xfrm>
            <a:off x="535697" y="487189"/>
            <a:ext cx="45232" cy="428069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TextBox 4"/>
          <p:cNvSpPr txBox="1"/>
          <p:nvPr/>
        </p:nvSpPr>
        <p:spPr>
          <a:xfrm>
            <a:off x="634804" y="439615"/>
            <a:ext cx="10872569" cy="4447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800"/>
            </a:lvl1pPr>
          </a:lstStyle>
          <a:p>
            <a:pPr/>
            <a:r>
              <a:t>References</a:t>
            </a:r>
          </a:p>
        </p:txBody>
      </p:sp>
      <p:sp>
        <p:nvSpPr>
          <p:cNvPr id="180" name="TextBox 5"/>
          <p:cNvSpPr txBox="1"/>
          <p:nvPr/>
        </p:nvSpPr>
        <p:spPr>
          <a:xfrm>
            <a:off x="634804" y="1362808"/>
            <a:ext cx="11022039" cy="17935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285750" indent="-285750">
              <a:buSzPct val="100000"/>
              <a:buFont typeface="Calibri"/>
              <a:buChar char="❖"/>
              <a:defRPr b="1"/>
            </a:pPr>
            <a:r>
              <a:t>JinlHe, PeFoMed</a:t>
            </a:r>
            <a:r>
              <a:rPr b="0"/>
              <a:t>: Medical Report Generation Framework </a:t>
            </a:r>
          </a:p>
          <a:p>
            <a:pPr marL="285750" indent="-285750">
              <a:buSzPct val="100000"/>
              <a:buFont typeface="Calibri"/>
              <a:buChar char="❖"/>
              <a:defRPr b="1"/>
            </a:pPr>
            <a:r>
              <a:t>GitHub</a:t>
            </a:r>
            <a:r>
              <a:rPr b="0"/>
              <a:t>: </a:t>
            </a:r>
            <a:r>
              <a:rPr b="0"/>
              <a:t>[</a:t>
            </a:r>
            <a:r>
              <a:rPr b="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2" invalidUrl="" action="" tgtFrame="" tooltip="" history="1" highlightClick="0" endSnd="0"/>
              </a:rPr>
              <a:t>https://github.com/jinlHe/PeFoMed</a:t>
            </a:r>
            <a:r>
              <a:rPr b="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2" invalidUrl="" action="" tgtFrame="" tooltip="" history="1" highlightClick="0" endSnd="0"/>
              </a:rPr>
              <a:t>]</a:t>
            </a:r>
            <a:endParaRPr u="sng">
              <a:solidFill>
                <a:srgbClr val="0563C1"/>
              </a:solidFill>
              <a:uFill>
                <a:solidFill>
                  <a:srgbClr val="0563C1"/>
                </a:solidFill>
              </a:uFill>
            </a:endParaRPr>
          </a:p>
          <a:p>
            <a:pPr marL="285750" indent="-285750">
              <a:buSzPct val="100000"/>
              <a:buFont typeface="Calibri"/>
              <a:buChar char="❖"/>
              <a:defRPr b="1"/>
            </a:pPr>
            <a:r>
              <a:t>CheXpert Dataset </a:t>
            </a:r>
            <a:r>
              <a:rPr b="0"/>
              <a:t>— Stanford ML Group</a:t>
            </a:r>
          </a:p>
          <a:p>
            <a:pPr marL="285750" indent="-285750">
              <a:buSzPct val="100000"/>
              <a:buFont typeface="Calibri"/>
              <a:buChar char="❖"/>
              <a:defRPr b="1"/>
            </a:pPr>
            <a:r>
              <a:t>Llama LLM </a:t>
            </a:r>
            <a:r>
              <a:rPr b="0"/>
              <a:t>— Text generation for medical data augmentation</a:t>
            </a:r>
          </a:p>
          <a:p>
            <a:pPr marL="285750" indent="-285750">
              <a:buSzPct val="100000"/>
              <a:buFont typeface="Calibri"/>
              <a:buChar char="❖"/>
              <a:defRPr b="1"/>
            </a:pPr>
            <a:r>
              <a:t>GPT-2 — Text decoder, [https://GPT-2-v2.github.io]</a:t>
            </a:r>
          </a:p>
          <a:p>
            <a:pPr marL="285750" indent="-285750">
              <a:buSzPct val="100000"/>
              <a:buFont typeface="Calibri"/>
              <a:buChar char="❖"/>
              <a:defRPr b="1"/>
            </a:pPr>
            <a:r>
              <a:t>CLIP ViT-L/14 — Vision encoder, [https://arxiv.org/pdf/2103.00020]</a:t>
            </a:r>
          </a:p>
        </p:txBody>
      </p:sp>
      <p:sp>
        <p:nvSpPr>
          <p:cNvPr id="181" name="Minus 6"/>
          <p:cNvSpPr/>
          <p:nvPr/>
        </p:nvSpPr>
        <p:spPr>
          <a:xfrm>
            <a:off x="535697" y="487189"/>
            <a:ext cx="45232" cy="428069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